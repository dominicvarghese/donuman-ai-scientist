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924a14-b9b0-2932-2cfb-bb96ebaa92a3}">
          <p14:sldIdLst>
            <p14:sldId id="256"/>
            <p14:sldId id="257"/>
            <p14:sldId id="258"/>
          </p14:sldIdLst>
        </p14:section>
        <p14:section name="Approach" id="{83397940-55a7-504e-7091-166b83fcacfb}">
          <p14:sldIdLst>
            <p14:sldId id="259"/>
            <p14:sldId id="260"/>
            <p14:sldId id="261"/>
          </p14:sldIdLst>
        </p14:section>
        <p14:section name="Results" id="{df51576f-140a-8759-eaae-2def0e53618f}">
          <p14:sldIdLst>
            <p14:sldId id="262"/>
            <p14:sldId id="263"/>
          </p14:sldIdLst>
        </p14:section>
        <p14:section name="Conclusion" id="{a82b8fce-ddd1-9f5f-06ba-b438fb55c0ec}">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WARDEN, an AI co-scientist for area-selective atomic layer deposition. I'll cover the problem, why it is hard, how WARDEN works, what it has shown so far, and where it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comes from 3D NAND: grow silicon oxide on oxide, but not on the silicon nitride right next to it, with 90 percent selectivity at 10 nanometres. The usual route is an inhibitor molecule that caps the nitride's N-H groups and leaves the oxide's O-H groups free. That is hard because both surfaces are amorphous, with many different reactive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inhibitors are picked by intuition and judged by adsorption on one idealised surface, failed calculations are dropped or misread, and compute is spread evenly. WARDEN sources every molecule in the literature, works site by site on validated amorphous surfaces, judges kinetics against a real dose window, and spends each calculation where it can change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loop. WARDEN searches the literature through Valency BOND and keeps only what it can quote. It turns papers into candidate molecules and designs analogs, computes reaction barriers with xTB on validated surfaces, and a decision agent picks the next calculation. A process model gives the verdict, and an LLM planner, a critic and a lab notebook turn each result into the next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optimises one physical number. Each barrier gives a capping rate. A molecule only works if a practical dose caps the slowest nitride site before it touches the fastest oxide site: the blue region, measured in decades. A big barrier difference is not enough; both barriers have to sit in the right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keeps a Bayesian belief over every barrier it could compute, and values each possible calculation, a new molecule, site, pathway, orientation or a better method, by how much it could change the decision per unit cost. On forty synthetic test cases per budget, it beats screening everything at tight budgets and matches it at large budgets with sixteen percent less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validated the workflow on real calculations. Our first screen had reported acetyl chloride as nitride-selective. WARDEN showed its oxide reaction is barrierless, the orange profile, so it would cap the oxide too. And half of all barrier calculations were failing for purely numerical reasons; one targeted retry per failure type brought that to six out of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ten papers retrieved through Valency, WARDEN built five candidates, each with a DOI and a verbatim quote. Having learned that acyl chlorides attack the oxide, it ranked the aldehydes, the class the literature calls nitride-selective, first. [[Result: name the best candidate, its margin and predicted selectivity, or explain which input limits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WARDEN turns the inhibitor search into decisions you can audit: every verdict is computed, sourced and reproducible, including why a molecule fails. Even where today's candidates fall short, the model shows which input limits the prediction, and each part can be upgraded: slab-level barriers, DFT on the leaders, calibration against measured growth, and an automated literature loop.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468880"/>
            <a:ext cx="8046720" cy="2011680"/>
          </a:xfrm>
          <a:prstGeom prst="rect">
            <a:avLst/>
          </a:prstGeom>
          <a:noFill/>
          <a:ln/>
        </p:spPr>
        <p:txBody>
          <a:bodyPr wrap="square" rtlCol="0"/>
          <a:lstStyle>
            <a:lvl1pPr algn="l" indent="0" marL="0">
              <a:buNone/>
              <a:defRPr lang="en-US" sz="1800" dirty="0">
                <a:solidFill>
                  <a:srgbClr val="CADCFC"/>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WARDEN</a:t>
            </a:r>
            <a:endParaRPr lang="en-US" sz="4000" dirty="0"/>
          </a:p>
        </p:txBody>
      </p:sp>
      <p:sp>
        <p:nvSpPr>
          <p:cNvPr id="3" name="Text 0"/>
          <p:cNvSpPr/>
          <p:nvPr>
            <p:ph idx="101" type="body" hasCustomPrompt="1"/>
          </p:nvPr>
        </p:nvSpPr>
        <p:spPr>
          <a:xfrm>
            <a:off x="548640" y="2468880"/>
            <a:ext cx="8046720" cy="2011680"/>
          </a:xfrm>
          <a:prstGeom prst="rect">
            <a:avLst/>
          </a:prstGeom>
          <a:noFill/>
          <a:ln/>
        </p:spPr>
        <p:txBody>
          <a:bodyPr wrap="square" lIns="0" tIns="0" rIns="0" bIns="0" rtlCol="0" anchor="t"/>
          <a:lstStyle/>
          <a:p>
            <a:pPr algn="l" indent="0" marL="0">
              <a:buNone/>
            </a:pPr>
            <a:r>
              <a:rPr lang="en-US" sz="1800" dirty="0">
                <a:solidFill>
                  <a:srgbClr val="CADCFC"/>
                </a:solidFill>
              </a:rPr>
              <a:t>An AI co-scientist that decides what to compute next</a:t>
            </a:r>
            <a:endParaRPr lang="en-US" sz="1800" dirty="0"/>
          </a:p>
          <a:p>
            <a:pPr algn="l" indent="0" marL="0">
              <a:buNone/>
            </a:pPr>
            <a:r>
              <a:rPr lang="en-US" sz="1800" dirty="0">
                <a:solidFill>
                  <a:srgbClr val="CADCFC"/>
                </a:solidFill>
              </a:rPr>
              <a:t>for area-selective ALD: SiO₂ on SiO₂, nitride passivated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rPr>
              <a:t>The problem: oxide on oxide, not on the nitride</a:t>
            </a:r>
            <a:endParaRPr lang="en-US" sz="2600" dirty="0"/>
          </a:p>
        </p:txBody>
      </p:sp>
      <p:sp>
        <p:nvSpPr>
          <p:cNvPr id="3" name="bullets"/>
          <p:cNvSpPr txBox="1"/>
          <p:nvPr/>
        </p:nvSpPr>
        <p:spPr>
          <a:xfrm>
            <a:off x="457200" y="1234440"/>
            <a:ext cx="48463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3D NAND needs SiO₂ grown on SiO₂ while the adjacent SiN stays bare, to isolate charge-trap cells</a:t>
            </a:r>
            <a:endParaRPr lang="en-US" sz="1500" dirty="0"/>
          </a:p>
          <a:p>
            <a:pPr marL="342900" indent="-342900">
              <a:spcAft>
                <a:spcPts val="800"/>
              </a:spcAft>
              <a:buSzPct val="100000"/>
              <a:buChar char="•"/>
            </a:pPr>
            <a:r>
              <a:rPr lang="en-US" sz="1500" dirty="0">
                <a:solidFill>
                  <a:schemeClr val="tx1"/>
                </a:solidFill>
              </a:rPr>
              <a:t>Route: an inhibitor that caps nitride N–H groups but leaves oxide O–H groups free to grow</a:t>
            </a:r>
            <a:endParaRPr lang="en-US" sz="1500" dirty="0"/>
          </a:p>
          <a:p>
            <a:pPr marL="342900" indent="-342900">
              <a:spcAft>
                <a:spcPts val="800"/>
              </a:spcAft>
              <a:buSzPct val="100000"/>
              <a:buChar char="•"/>
            </a:pPr>
            <a:r>
              <a:rPr lang="en-US" sz="1500" dirty="0">
                <a:solidFill>
                  <a:schemeClr val="tx1"/>
                </a:solidFill>
              </a:rPr>
              <a:t>Hard because both surfaces are amorphous, with many different reactive sites</a:t>
            </a:r>
            <a:endParaRPr lang="en-US" sz="1500" dirty="0"/>
          </a:p>
        </p:txBody>
      </p:sp>
      <p:sp>
        <p:nvSpPr>
          <p:cNvPr id="4" name="target card"/>
          <p:cNvSpPr/>
          <p:nvPr/>
        </p:nvSpPr>
        <p:spPr>
          <a:xfrm>
            <a:off x="5669280" y="1234440"/>
            <a:ext cx="3017520" cy="1417320"/>
          </a:xfrm>
          <a:prstGeom prst="roundRect">
            <a:avLst>
              <a:gd name="adj" fmla="val 5161"/>
            </a:avLst>
          </a:prstGeom>
          <a:solidFill>
            <a:schemeClr val="bg2"/>
          </a:solidFill>
          <a:ln w="12700">
            <a:solidFill>
              <a:schemeClr val="bg2"/>
            </a:solidFill>
            <a:prstDash val="solid"/>
          </a:ln>
        </p:spPr>
      </p:sp>
      <p:sp>
        <p:nvSpPr>
          <p:cNvPr id="5" name="target value"/>
          <p:cNvSpPr txBox="1"/>
          <p:nvPr/>
        </p:nvSpPr>
        <p:spPr>
          <a:xfrm>
            <a:off x="5852160" y="1344168"/>
            <a:ext cx="2651760" cy="70866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90 %</a:t>
            </a:r>
            <a:endParaRPr lang="en-US" sz="3000" dirty="0"/>
          </a:p>
        </p:txBody>
      </p:sp>
      <p:sp>
        <p:nvSpPr>
          <p:cNvPr id="6" name="target label"/>
          <p:cNvSpPr txBox="1"/>
          <p:nvPr/>
        </p:nvSpPr>
        <p:spPr>
          <a:xfrm>
            <a:off x="5852160" y="2084832"/>
            <a:ext cx="2651760" cy="510235"/>
          </a:xfrm>
          <a:prstGeom prst="rect">
            <a:avLst/>
          </a:prstGeom>
          <a:noFill/>
          <a:ln/>
        </p:spPr>
        <p:txBody>
          <a:bodyPr wrap="square" lIns="0" tIns="0" rIns="0" bIns="0" rtlCol="0" anchor="t"/>
          <a:lstStyle/>
          <a:p>
            <a:pPr indent="0" marL="0">
              <a:buNone/>
            </a:pPr>
            <a:r>
              <a:rPr lang="en-US" sz="1200" dirty="0">
                <a:solidFill>
                  <a:schemeClr val="tx1"/>
                </a:solidFill>
              </a:rPr>
              <a:t>selectivity at 10 nm of oxide: the target</a:t>
            </a:r>
            <a:endParaRPr lang="en-US" sz="1200" dirty="0"/>
          </a:p>
        </p:txBody>
      </p:sp>
      <p:sp>
        <p:nvSpPr>
          <p:cNvPr id="7" name="application card"/>
          <p:cNvSpPr/>
          <p:nvPr/>
        </p:nvSpPr>
        <p:spPr>
          <a:xfrm>
            <a:off x="5669280" y="2880360"/>
            <a:ext cx="3017520" cy="1417320"/>
          </a:xfrm>
          <a:prstGeom prst="roundRect">
            <a:avLst>
              <a:gd name="adj" fmla="val 5161"/>
            </a:avLst>
          </a:prstGeom>
          <a:solidFill>
            <a:schemeClr val="bg2"/>
          </a:solidFill>
          <a:ln w="12700">
            <a:solidFill>
              <a:schemeClr val="bg2"/>
            </a:solidFill>
            <a:prstDash val="solid"/>
          </a:ln>
        </p:spPr>
      </p:sp>
      <p:sp>
        <p:nvSpPr>
          <p:cNvPr id="8" name="application value"/>
          <p:cNvSpPr txBox="1"/>
          <p:nvPr/>
        </p:nvSpPr>
        <p:spPr>
          <a:xfrm>
            <a:off x="5852160" y="2990088"/>
            <a:ext cx="2651760" cy="708660"/>
          </a:xfrm>
          <a:prstGeom prst="rect">
            <a:avLst/>
          </a:prstGeom>
          <a:noFill/>
          <a:ln/>
        </p:spPr>
        <p:txBody>
          <a:bodyPr wrap="square" lIns="0" tIns="0" rIns="0" bIns="0" rtlCol="0" anchor="b"/>
          <a:lstStyle/>
          <a:p>
            <a:pPr indent="0" marL="0">
              <a:buNone/>
            </a:pPr>
            <a:r>
              <a:rPr lang="en-US" sz="2600" b="1" dirty="0">
                <a:solidFill>
                  <a:schemeClr val="accent2"/>
                </a:solidFill>
                <a:latin typeface="Cambria" pitchFamily="34" charset="0"/>
                <a:ea typeface="Cambria" pitchFamily="34" charset="-122"/>
                <a:cs typeface="Cambria" pitchFamily="34" charset="-120"/>
              </a:rPr>
              <a:t>3D NAND</a:t>
            </a:r>
            <a:endParaRPr lang="en-US" sz="2600" dirty="0"/>
          </a:p>
        </p:txBody>
      </p:sp>
      <p:sp>
        <p:nvSpPr>
          <p:cNvPr id="9" name="application label"/>
          <p:cNvSpPr txBox="1"/>
          <p:nvPr/>
        </p:nvSpPr>
        <p:spPr>
          <a:xfrm>
            <a:off x="5852160" y="3730752"/>
            <a:ext cx="2651760" cy="510235"/>
          </a:xfrm>
          <a:prstGeom prst="rect">
            <a:avLst/>
          </a:prstGeom>
          <a:noFill/>
          <a:ln/>
        </p:spPr>
        <p:txBody>
          <a:bodyPr wrap="square" lIns="0" tIns="0" rIns="0" bIns="0" rtlCol="0" anchor="t"/>
          <a:lstStyle/>
          <a:p>
            <a:pPr indent="0" marL="0">
              <a:buNone/>
            </a:pPr>
            <a:r>
              <a:rPr lang="en-US" sz="1200" dirty="0">
                <a:solidFill>
                  <a:schemeClr val="tx1"/>
                </a:solidFill>
              </a:rPr>
              <a:t>the application: oxide-on-oxide next to charge-trap nitride</a:t>
            </a:r>
            <a:endParaRPr lang="en-US" sz="12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rPr>
              <a:t>Why an AI co-scientist helps</a:t>
            </a:r>
            <a:endParaRPr lang="en-US" sz="2600" dirty="0"/>
          </a:p>
        </p:txBody>
      </p:sp>
      <p:sp>
        <p:nvSpPr>
          <p:cNvPr id="3" name="today panel"/>
          <p:cNvSpPr/>
          <p:nvPr/>
        </p:nvSpPr>
        <p:spPr>
          <a:xfrm>
            <a:off x="457200" y="1143000"/>
            <a:ext cx="3931920" cy="3520440"/>
          </a:xfrm>
          <a:prstGeom prst="roundRect">
            <a:avLst>
              <a:gd name="adj" fmla="val 2078"/>
            </a:avLst>
          </a:prstGeom>
          <a:solidFill>
            <a:schemeClr val="bg2"/>
          </a:solidFill>
          <a:ln w="12700">
            <a:solidFill>
              <a:schemeClr val="bg2"/>
            </a:solidFill>
            <a:prstDash val="solid"/>
          </a:ln>
        </p:spPr>
      </p:sp>
      <p:sp>
        <p:nvSpPr>
          <p:cNvPr id="4" name="today heading"/>
          <p:cNvSpPr txBox="1"/>
          <p:nvPr/>
        </p:nvSpPr>
        <p:spPr>
          <a:xfrm>
            <a:off x="685800" y="1280160"/>
            <a:ext cx="3474720" cy="411480"/>
          </a:xfrm>
          <a:prstGeom prst="rect">
            <a:avLst/>
          </a:prstGeom>
          <a:noFill/>
          <a:ln/>
        </p:spPr>
        <p:txBody>
          <a:bodyPr wrap="square" lIns="0" tIns="0" rIns="0" bIns="0" rtlCol="0" anchor="ctr"/>
          <a:lstStyle/>
          <a:p>
            <a:pPr indent="0" marL="0">
              <a:buNone/>
            </a:pPr>
            <a:r>
              <a:rPr lang="en-US" sz="1800" b="1" dirty="0">
                <a:solidFill>
                  <a:schemeClr val="accent6"/>
                </a:solidFill>
                <a:latin typeface="Cambria" pitchFamily="34" charset="0"/>
                <a:ea typeface="Cambria" pitchFamily="34" charset="-122"/>
                <a:cs typeface="Cambria" pitchFamily="34" charset="-120"/>
              </a:rPr>
              <a:t>Today</a:t>
            </a:r>
            <a:endParaRPr lang="en-US" sz="1800" dirty="0"/>
          </a:p>
        </p:txBody>
      </p:sp>
      <p:sp>
        <p:nvSpPr>
          <p:cNvPr id="5" name="bullets"/>
          <p:cNvSpPr txBox="1"/>
          <p:nvPr/>
        </p:nvSpPr>
        <p:spPr>
          <a:xfrm>
            <a:off x="685800" y="1783080"/>
            <a:ext cx="352044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Molecules picked by intuition</a:t>
            </a:r>
            <a:endParaRPr lang="en-US" sz="1400" dirty="0"/>
          </a:p>
          <a:p>
            <a:pPr marL="342900" indent="-342900">
              <a:spcAft>
                <a:spcPts val="800"/>
              </a:spcAft>
              <a:buSzPct val="100000"/>
              <a:buChar char="•"/>
            </a:pPr>
            <a:r>
              <a:rPr lang="en-US" sz="1400" dirty="0">
                <a:solidFill>
                  <a:schemeClr val="tx1"/>
                </a:solidFill>
              </a:rPr>
              <a:t>One idealised surface</a:t>
            </a:r>
            <a:endParaRPr lang="en-US" sz="1400" dirty="0"/>
          </a:p>
          <a:p>
            <a:pPr marL="342900" indent="-342900">
              <a:spcAft>
                <a:spcPts val="800"/>
              </a:spcAft>
              <a:buSzPct val="100000"/>
              <a:buChar char="•"/>
            </a:pPr>
            <a:r>
              <a:rPr lang="en-US" sz="1400" dirty="0">
                <a:solidFill>
                  <a:schemeClr val="tx1"/>
                </a:solidFill>
              </a:rPr>
              <a:t>Adsorption energy as a proxy</a:t>
            </a:r>
            <a:endParaRPr lang="en-US" sz="1400" dirty="0"/>
          </a:p>
          <a:p>
            <a:pPr marL="342900" indent="-342900">
              <a:spcAft>
                <a:spcPts val="800"/>
              </a:spcAft>
              <a:buSzPct val="100000"/>
              <a:buChar char="•"/>
            </a:pPr>
            <a:r>
              <a:rPr lang="en-US" sz="1400" dirty="0">
                <a:solidFill>
                  <a:schemeClr val="tx1"/>
                </a:solidFill>
              </a:rPr>
              <a:t>Failed calculations dropped or misread</a:t>
            </a:r>
            <a:endParaRPr lang="en-US" sz="1400" dirty="0"/>
          </a:p>
          <a:p>
            <a:pPr marL="342900" indent="-342900">
              <a:spcAft>
                <a:spcPts val="800"/>
              </a:spcAft>
              <a:buSzPct val="100000"/>
              <a:buChar char="•"/>
            </a:pPr>
            <a:r>
              <a:rPr lang="en-US" sz="1400" dirty="0">
                <a:solidFill>
                  <a:schemeClr val="tx1"/>
                </a:solidFill>
              </a:rPr>
              <a:t>Compute spread evenly</a:t>
            </a:r>
            <a:endParaRPr lang="en-US" sz="1400" dirty="0"/>
          </a:p>
        </p:txBody>
      </p:sp>
      <p:sp>
        <p:nvSpPr>
          <p:cNvPr id="6" name="warden panel"/>
          <p:cNvSpPr/>
          <p:nvPr/>
        </p:nvSpPr>
        <p:spPr>
          <a:xfrm>
            <a:off x="4754880" y="1143000"/>
            <a:ext cx="3931920" cy="3520440"/>
          </a:xfrm>
          <a:prstGeom prst="roundRect">
            <a:avLst>
              <a:gd name="adj" fmla="val 2078"/>
            </a:avLst>
          </a:prstGeom>
          <a:solidFill>
            <a:schemeClr val="bg2"/>
          </a:solidFill>
          <a:ln w="12700">
            <a:solidFill>
              <a:schemeClr val="bg2"/>
            </a:solidFill>
            <a:prstDash val="solid"/>
          </a:ln>
        </p:spPr>
      </p:sp>
      <p:sp>
        <p:nvSpPr>
          <p:cNvPr id="7" name="warden heading"/>
          <p:cNvSpPr txBox="1"/>
          <p:nvPr/>
        </p:nvSpPr>
        <p:spPr>
          <a:xfrm>
            <a:off x="4983480" y="1280160"/>
            <a:ext cx="3474720" cy="411480"/>
          </a:xfrm>
          <a:prstGeom prst="rect">
            <a:avLst/>
          </a:prstGeom>
          <a:noFill/>
          <a:ln/>
        </p:spPr>
        <p:txBody>
          <a:bodyPr wrap="square" lIns="0" tIns="0" rIns="0" bIns="0" rtlCol="0" anchor="ctr"/>
          <a:lstStyle/>
          <a:p>
            <a:pPr indent="0" marL="0">
              <a:buNone/>
            </a:pPr>
            <a:r>
              <a:rPr lang="en-US" sz="1800" b="1" dirty="0">
                <a:solidFill>
                  <a:schemeClr val="accent3"/>
                </a:solidFill>
                <a:latin typeface="Cambria" pitchFamily="34" charset="0"/>
                <a:ea typeface="Cambria" pitchFamily="34" charset="-122"/>
                <a:cs typeface="Cambria" pitchFamily="34" charset="-120"/>
              </a:rPr>
              <a:t>With WARDEN</a:t>
            </a:r>
            <a:endParaRPr lang="en-US" sz="1800" dirty="0"/>
          </a:p>
        </p:txBody>
      </p:sp>
      <p:sp>
        <p:nvSpPr>
          <p:cNvPr id="8" name="bullets"/>
          <p:cNvSpPr txBox="1"/>
          <p:nvPr/>
        </p:nvSpPr>
        <p:spPr>
          <a:xfrm>
            <a:off x="4983480" y="1783080"/>
            <a:ext cx="352044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Molecules from sourced literature and analogs</a:t>
            </a:r>
            <a:endParaRPr lang="en-US" sz="1400" dirty="0"/>
          </a:p>
          <a:p>
            <a:pPr marL="342900" indent="-342900">
              <a:spcAft>
                <a:spcPts val="800"/>
              </a:spcAft>
              <a:buSzPct val="100000"/>
              <a:buChar char="•"/>
            </a:pPr>
            <a:r>
              <a:rPr lang="en-US" sz="1400" dirty="0">
                <a:solidFill>
                  <a:schemeClr val="tx1"/>
                </a:solidFill>
              </a:rPr>
              <a:t>Validated amorphous surfaces, site by site</a:t>
            </a:r>
            <a:endParaRPr lang="en-US" sz="1400" dirty="0"/>
          </a:p>
          <a:p>
            <a:pPr marL="342900" indent="-342900">
              <a:spcAft>
                <a:spcPts val="800"/>
              </a:spcAft>
              <a:buSzPct val="100000"/>
              <a:buChar char="•"/>
            </a:pPr>
            <a:r>
              <a:rPr lang="en-US" sz="1400" dirty="0">
                <a:solidFill>
                  <a:schemeClr val="tx1"/>
                </a:solidFill>
              </a:rPr>
              <a:t>Reaction kinetics judged by a real dose window</a:t>
            </a:r>
            <a:endParaRPr lang="en-US" sz="1400" dirty="0"/>
          </a:p>
          <a:p>
            <a:pPr marL="342900" indent="-342900">
              <a:spcAft>
                <a:spcPts val="800"/>
              </a:spcAft>
              <a:buSzPct val="100000"/>
              <a:buChar char="•"/>
            </a:pPr>
            <a:r>
              <a:rPr lang="en-US" sz="1400" dirty="0">
                <a:solidFill>
                  <a:schemeClr val="tx1"/>
                </a:solidFill>
              </a:rPr>
              <a:t>Numerical failures retried, never read as chemistry</a:t>
            </a:r>
            <a:endParaRPr lang="en-US" sz="1400" dirty="0"/>
          </a:p>
          <a:p>
            <a:pPr marL="342900" indent="-342900">
              <a:spcAft>
                <a:spcPts val="800"/>
              </a:spcAft>
              <a:buSzPct val="100000"/>
              <a:buChar char="•"/>
            </a:pPr>
            <a:r>
              <a:rPr lang="en-US" sz="1400" dirty="0">
                <a:solidFill>
                  <a:schemeClr val="tx1"/>
                </a:solidFill>
              </a:rPr>
              <a:t>Each calculation chosen for its value</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rPr>
              <a:t>How WARDEN works</a:t>
            </a:r>
            <a:endParaRPr lang="en-US" sz="2600" dirty="0"/>
          </a:p>
        </p:txBody>
      </p:sp>
      <p:pic>
        <p:nvPicPr>
          <p:cNvPr id="3" name="pipeline figure" descr="Pipeline: literature, candidates, barriers, decision agent, process verdict, with a feedback loop">    </p:cNvPr>
          <p:cNvPicPr>
            <a:picLocks noChangeAspect="1"/>
          </p:cNvPicPr>
          <p:nvPr/>
        </p:nvPicPr>
        <p:blipFill>
          <a:blip r:embed="rId1"/>
          <a:stretch>
            <a:fillRect/>
          </a:stretch>
        </p:blipFill>
        <p:spPr>
          <a:xfrm>
            <a:off x="457200" y="1143000"/>
            <a:ext cx="8229600" cy="2438560"/>
          </a:xfrm>
          <a:prstGeom prst="rect">
            <a:avLst/>
          </a:prstGeom>
        </p:spPr>
      </p:pic>
      <p:sp>
        <p:nvSpPr>
          <p:cNvPr id="4" name="bullets"/>
          <p:cNvSpPr txBox="1"/>
          <p:nvPr/>
        </p:nvSpPr>
        <p:spPr>
          <a:xfrm>
            <a:off x="457200" y="3794760"/>
            <a:ext cx="8229600" cy="914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Every literature claim quotes a retrieved source verbatim; an independent critic reviews each proposal</a:t>
            </a:r>
            <a:endParaRPr lang="en-US" sz="1400" dirty="0"/>
          </a:p>
          <a:p>
            <a:pPr marL="342900" indent="-342900">
              <a:spcAft>
                <a:spcPts val="800"/>
              </a:spcAft>
              <a:buSzPct val="100000"/>
              <a:buChar char="•"/>
            </a:pPr>
            <a:r>
              <a:rPr lang="en-US" sz="1400" dirty="0">
                <a:solidFill>
                  <a:schemeClr val="tx1"/>
                </a:solidFill>
              </a:rPr>
              <a:t>Amorphous slabs pass admission gates before any energy is computed; hypotheses are scored by code, not by the LLM</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rPr>
              <a:t>One criterion: can a dose separate the surfaces?</a:t>
            </a:r>
            <a:endParaRPr lang="en-US" sz="2600" dirty="0"/>
          </a:p>
        </p:txBody>
      </p:sp>
      <p:pic>
        <p:nvPicPr>
          <p:cNvPr id="3" name="dose window figure" descr="Dose-window margin as a function of the fastest oxide barrier and the slowest nitride barrier">    </p:cNvPr>
          <p:cNvPicPr>
            <a:picLocks noChangeAspect="1"/>
          </p:cNvPicPr>
          <p:nvPr/>
        </p:nvPicPr>
        <p:blipFill>
          <a:blip r:embed="rId1"/>
          <a:stretch>
            <a:fillRect/>
          </a:stretch>
        </p:blipFill>
        <p:spPr>
          <a:xfrm>
            <a:off x="365760" y="1051560"/>
            <a:ext cx="4343400" cy="3696960"/>
          </a:xfrm>
          <a:prstGeom prst="rect">
            <a:avLst/>
          </a:prstGeom>
        </p:spPr>
      </p:pic>
      <p:sp>
        <p:nvSpPr>
          <p:cNvPr id="4" name="bullets"/>
          <p:cNvSpPr txBox="1"/>
          <p:nvPr/>
        </p:nvSpPr>
        <p:spPr>
          <a:xfrm>
            <a:off x="4983480" y="1234440"/>
            <a:ext cx="374904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Each barrier gives a capping rate: k = (k_B T / h) · exp(−Ea / k_B T)</a:t>
            </a:r>
            <a:endParaRPr lang="en-US" sz="1400" dirty="0"/>
          </a:p>
          <a:p>
            <a:pPr marL="342900" indent="-342900">
              <a:spcAft>
                <a:spcPts val="800"/>
              </a:spcAft>
              <a:buSzPct val="100000"/>
              <a:buChar char="•"/>
            </a:pPr>
            <a:r>
              <a:rPr lang="en-US" sz="1400" dirty="0">
                <a:solidFill>
                  <a:schemeClr val="tx1"/>
                </a:solidFill>
              </a:rPr>
              <a:t>Works only if the slowest nitride site is 99 % capped before the fastest oxide site reaches 1 %, at 0.05–30 s</a:t>
            </a:r>
            <a:endParaRPr lang="en-US" sz="1400" dirty="0"/>
          </a:p>
          <a:p>
            <a:pPr marL="342900" indent="-342900">
              <a:spcAft>
                <a:spcPts val="800"/>
              </a:spcAft>
              <a:buSzPct val="100000"/>
              <a:buChar char="•"/>
            </a:pPr>
            <a:r>
              <a:rPr lang="en-US" sz="1400" dirty="0">
                <a:solidFill>
                  <a:schemeClr val="tx1"/>
                </a:solidFill>
              </a:rPr>
              <a:t>Margin in decades, at the best temperature: the number every component optimises</a:t>
            </a:r>
            <a:endParaRPr lang="en-US" sz="1400" dirty="0"/>
          </a:p>
          <a:p>
            <a:pPr marL="342900" indent="-342900">
              <a:spcAft>
                <a:spcPts val="800"/>
              </a:spcAft>
              <a:buSzPct val="100000"/>
              <a:buChar char="•"/>
            </a:pPr>
            <a:r>
              <a:rPr lang="en-US" sz="1400" dirty="0">
                <a:solidFill>
                  <a:schemeClr val="tx1"/>
                </a:solidFill>
              </a:rPr>
              <a:t>A large barrier difference alone is not enough: both barriers must sit in the blue band</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rPr>
              <a:t>The agent chooses what to compute next</a:t>
            </a:r>
            <a:endParaRPr lang="en-US" sz="2600" dirty="0"/>
          </a:p>
        </p:txBody>
      </p:sp>
      <p:sp>
        <p:nvSpPr>
          <p:cNvPr id="3" name="formula"/>
          <p:cNvSpPr txBox="1"/>
          <p:nvPr/>
        </p:nvSpPr>
        <p:spPr>
          <a:xfrm>
            <a:off x="457200" y="1097280"/>
            <a:ext cx="8229600" cy="365760"/>
          </a:xfrm>
          <a:prstGeom prst="rect">
            <a:avLst/>
          </a:prstGeom>
          <a:noFill/>
          <a:ln/>
        </p:spPr>
        <p:txBody>
          <a:bodyPr wrap="square" lIns="0" tIns="0" rIns="0" bIns="0" rtlCol="0" anchor="ctr"/>
          <a:lstStyle/>
          <a:p>
            <a:pPr indent="0" marL="0">
              <a:buNone/>
            </a:pPr>
            <a:r>
              <a:rPr lang="en-US" sz="1500" b="1" dirty="0">
                <a:solidFill>
                  <a:schemeClr val="accent1"/>
                </a:solidFill>
              </a:rPr>
              <a:t>value of a calculation = expected improvement in the margin × P(success) ÷ cost</a:t>
            </a:r>
            <a:endParaRPr lang="en-US" sz="1500" dirty="0"/>
          </a:p>
        </p:txBody>
      </p:sp>
      <p:pic>
        <p:nvPicPr>
          <p:cNvPr id="4" name="benchmark figure" descr="Regret of the final pick versus compute budget for the WARDEN agent and four baseline policies">    </p:cNvPr>
          <p:cNvPicPr>
            <a:picLocks noChangeAspect="1"/>
          </p:cNvPicPr>
          <p:nvPr/>
        </p:nvPicPr>
        <p:blipFill>
          <a:blip r:embed="rId1"/>
          <a:stretch>
            <a:fillRect/>
          </a:stretch>
        </p:blipFill>
        <p:spPr>
          <a:xfrm>
            <a:off x="3246120" y="1600200"/>
            <a:ext cx="5440680" cy="2565938"/>
          </a:xfrm>
          <a:prstGeom prst="rect">
            <a:avLst/>
          </a:prstGeom>
        </p:spPr>
      </p:pic>
      <p:sp>
        <p:nvSpPr>
          <p:cNvPr id="5" name="gain card"/>
          <p:cNvSpPr/>
          <p:nvPr/>
        </p:nvSpPr>
        <p:spPr>
          <a:xfrm>
            <a:off x="457200" y="1600200"/>
            <a:ext cx="2606040" cy="1371600"/>
          </a:xfrm>
          <a:prstGeom prst="roundRect">
            <a:avLst>
              <a:gd name="adj" fmla="val 5333"/>
            </a:avLst>
          </a:prstGeom>
          <a:solidFill>
            <a:schemeClr val="bg2"/>
          </a:solidFill>
          <a:ln w="12700">
            <a:solidFill>
              <a:schemeClr val="bg2"/>
            </a:solidFill>
            <a:prstDash val="solid"/>
          </a:ln>
        </p:spPr>
      </p:sp>
      <p:sp>
        <p:nvSpPr>
          <p:cNvPr id="6" name="gain value"/>
          <p:cNvSpPr txBox="1"/>
          <p:nvPr/>
        </p:nvSpPr>
        <p:spPr>
          <a:xfrm>
            <a:off x="640080" y="1709928"/>
            <a:ext cx="2240280" cy="68580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2.5 dec.</a:t>
            </a:r>
            <a:endParaRPr lang="en-US" sz="3000" dirty="0"/>
          </a:p>
        </p:txBody>
      </p:sp>
      <p:sp>
        <p:nvSpPr>
          <p:cNvPr id="7" name="gain label"/>
          <p:cNvSpPr txBox="1"/>
          <p:nvPr/>
        </p:nvSpPr>
        <p:spPr>
          <a:xfrm>
            <a:off x="640080" y="2423160"/>
            <a:ext cx="2240280" cy="493776"/>
          </a:xfrm>
          <a:prstGeom prst="rect">
            <a:avLst/>
          </a:prstGeom>
          <a:noFill/>
          <a:ln/>
        </p:spPr>
        <p:txBody>
          <a:bodyPr wrap="square" lIns="0" tIns="0" rIns="0" bIns="0" rtlCol="0" anchor="t"/>
          <a:lstStyle/>
          <a:p>
            <a:pPr indent="0" marL="0">
              <a:buNone/>
            </a:pPr>
            <a:r>
              <a:rPr lang="en-US" sz="1200" dirty="0">
                <a:solidFill>
                  <a:schemeClr val="tx1"/>
                </a:solidFill>
              </a:rPr>
              <a:t>lower regret than screening everything, budget 20</a:t>
            </a:r>
            <a:endParaRPr lang="en-US" sz="1200" dirty="0"/>
          </a:p>
        </p:txBody>
      </p:sp>
      <p:sp>
        <p:nvSpPr>
          <p:cNvPr id="8" name="saving card"/>
          <p:cNvSpPr/>
          <p:nvPr/>
        </p:nvSpPr>
        <p:spPr>
          <a:xfrm>
            <a:off x="457200" y="3154680"/>
            <a:ext cx="2606040" cy="1371600"/>
          </a:xfrm>
          <a:prstGeom prst="roundRect">
            <a:avLst>
              <a:gd name="adj" fmla="val 5333"/>
            </a:avLst>
          </a:prstGeom>
          <a:solidFill>
            <a:schemeClr val="bg2"/>
          </a:solidFill>
          <a:ln w="12700">
            <a:solidFill>
              <a:schemeClr val="bg2"/>
            </a:solidFill>
            <a:prstDash val="solid"/>
          </a:ln>
        </p:spPr>
      </p:sp>
      <p:sp>
        <p:nvSpPr>
          <p:cNvPr id="9" name="saving value"/>
          <p:cNvSpPr txBox="1"/>
          <p:nvPr/>
        </p:nvSpPr>
        <p:spPr>
          <a:xfrm>
            <a:off x="640080" y="3264408"/>
            <a:ext cx="2240280" cy="685800"/>
          </a:xfrm>
          <a:prstGeom prst="rect">
            <a:avLst/>
          </a:prstGeom>
          <a:noFill/>
          <a:ln/>
        </p:spPr>
        <p:txBody>
          <a:bodyPr wrap="square" lIns="0" tIns="0" rIns="0" bIns="0" rtlCol="0" anchor="b"/>
          <a:lstStyle/>
          <a:p>
            <a:pPr indent="0" marL="0">
              <a:buNone/>
            </a:pPr>
            <a:r>
              <a:rPr lang="en-US" sz="3000" b="1" dirty="0">
                <a:solidFill>
                  <a:schemeClr val="accent3"/>
                </a:solidFill>
                <a:latin typeface="Cambria" pitchFamily="34" charset="0"/>
                <a:ea typeface="Cambria" pitchFamily="34" charset="-122"/>
                <a:cs typeface="Cambria" pitchFamily="34" charset="-120"/>
              </a:rPr>
              <a:t>16%</a:t>
            </a:r>
            <a:endParaRPr lang="en-US" sz="3000" dirty="0"/>
          </a:p>
        </p:txBody>
      </p:sp>
      <p:sp>
        <p:nvSpPr>
          <p:cNvPr id="10" name="saving label"/>
          <p:cNvSpPr txBox="1"/>
          <p:nvPr/>
        </p:nvSpPr>
        <p:spPr>
          <a:xfrm>
            <a:off x="640080" y="3977640"/>
            <a:ext cx="2240280" cy="493776"/>
          </a:xfrm>
          <a:prstGeom prst="rect">
            <a:avLst/>
          </a:prstGeom>
          <a:noFill/>
          <a:ln/>
        </p:spPr>
        <p:txBody>
          <a:bodyPr wrap="square" lIns="0" tIns="0" rIns="0" bIns="0" rtlCol="0" anchor="t"/>
          <a:lstStyle/>
          <a:p>
            <a:pPr indent="0" marL="0">
              <a:buNone/>
            </a:pPr>
            <a:r>
              <a:rPr lang="en-US" sz="1200" dirty="0">
                <a:solidFill>
                  <a:schemeClr val="tx1"/>
                </a:solidFill>
              </a:rPr>
              <a:t>less compute to match exhaustive screening, budget 80</a:t>
            </a:r>
            <a:endParaRPr lang="en-US" sz="12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rPr>
              <a:t>Validation: real calculations, corrected conclusions</a:t>
            </a:r>
            <a:endParaRPr lang="en-US" sz="2600" dirty="0"/>
          </a:p>
        </p:txBody>
      </p:sp>
      <p:sp>
        <p:nvSpPr>
          <p:cNvPr id="3" name="acetyl card"/>
          <p:cNvSpPr/>
          <p:nvPr/>
        </p:nvSpPr>
        <p:spPr>
          <a:xfrm>
            <a:off x="457200" y="1097280"/>
            <a:ext cx="3977640" cy="1188720"/>
          </a:xfrm>
          <a:prstGeom prst="roundRect">
            <a:avLst>
              <a:gd name="adj" fmla="val 6154"/>
            </a:avLst>
          </a:prstGeom>
          <a:solidFill>
            <a:schemeClr val="bg2"/>
          </a:solidFill>
          <a:ln w="12700">
            <a:solidFill>
              <a:schemeClr val="bg2"/>
            </a:solidFill>
            <a:prstDash val="solid"/>
          </a:ln>
        </p:spPr>
      </p:sp>
      <p:sp>
        <p:nvSpPr>
          <p:cNvPr id="4" name="acetyl value"/>
          <p:cNvSpPr txBox="1"/>
          <p:nvPr/>
        </p:nvSpPr>
        <p:spPr>
          <a:xfrm>
            <a:off x="640080" y="1207008"/>
            <a:ext cx="3611880" cy="594360"/>
          </a:xfrm>
          <a:prstGeom prst="rect">
            <a:avLst/>
          </a:prstGeom>
          <a:noFill/>
          <a:ln/>
        </p:spPr>
        <p:txBody>
          <a:bodyPr wrap="square" lIns="0" tIns="0" rIns="0" bIns="0" rtlCol="0" anchor="b"/>
          <a:lstStyle/>
          <a:p>
            <a:pPr indent="0" marL="0">
              <a:buNone/>
            </a:pPr>
            <a:r>
              <a:rPr lang="en-US" sz="3000" b="1" dirty="0">
                <a:solidFill>
                  <a:schemeClr val="accent6"/>
                </a:solidFill>
                <a:latin typeface="Cambria" pitchFamily="34" charset="0"/>
                <a:ea typeface="Cambria" pitchFamily="34" charset="-122"/>
                <a:cs typeface="Cambria" pitchFamily="34" charset="-120"/>
              </a:rPr>
              <a:t>-13.6 dec.</a:t>
            </a:r>
            <a:endParaRPr lang="en-US" sz="3000" dirty="0"/>
          </a:p>
        </p:txBody>
      </p:sp>
      <p:sp>
        <p:nvSpPr>
          <p:cNvPr id="5" name="acetyl label"/>
          <p:cNvSpPr txBox="1"/>
          <p:nvPr/>
        </p:nvSpPr>
        <p:spPr>
          <a:xfrm>
            <a:off x="640080" y="1810512"/>
            <a:ext cx="3611880" cy="427939"/>
          </a:xfrm>
          <a:prstGeom prst="rect">
            <a:avLst/>
          </a:prstGeom>
          <a:noFill/>
          <a:ln/>
        </p:spPr>
        <p:txBody>
          <a:bodyPr wrap="square" lIns="0" tIns="0" rIns="0" bIns="0" rtlCol="0" anchor="t"/>
          <a:lstStyle/>
          <a:p>
            <a:pPr indent="0" marL="0">
              <a:buNone/>
            </a:pPr>
            <a:r>
              <a:rPr lang="en-US" sz="1200" dirty="0">
                <a:solidFill>
                  <a:schemeClr val="tx1"/>
                </a:solidFill>
              </a:rPr>
              <a:t>acetyl chloride: oxide reacts with no barrier, so not selective (first screen: +0.71 eV)</a:t>
            </a:r>
            <a:endParaRPr lang="en-US" sz="1200" dirty="0"/>
          </a:p>
        </p:txBody>
      </p:sp>
      <p:sp>
        <p:nvSpPr>
          <p:cNvPr id="6" name="rescue card"/>
          <p:cNvSpPr/>
          <p:nvPr/>
        </p:nvSpPr>
        <p:spPr>
          <a:xfrm>
            <a:off x="4709160" y="1097280"/>
            <a:ext cx="3977640" cy="1188720"/>
          </a:xfrm>
          <a:prstGeom prst="roundRect">
            <a:avLst>
              <a:gd name="adj" fmla="val 6154"/>
            </a:avLst>
          </a:prstGeom>
          <a:solidFill>
            <a:schemeClr val="bg2"/>
          </a:solidFill>
          <a:ln w="12700">
            <a:solidFill>
              <a:schemeClr val="bg2"/>
            </a:solidFill>
            <a:prstDash val="solid"/>
          </a:ln>
        </p:spPr>
      </p:sp>
      <p:sp>
        <p:nvSpPr>
          <p:cNvPr id="7" name="rescue value"/>
          <p:cNvSpPr txBox="1"/>
          <p:nvPr/>
        </p:nvSpPr>
        <p:spPr>
          <a:xfrm>
            <a:off x="4892040" y="1207008"/>
            <a:ext cx="3611880" cy="594360"/>
          </a:xfrm>
          <a:prstGeom prst="rect">
            <a:avLst/>
          </a:prstGeom>
          <a:noFill/>
          <a:ln/>
        </p:spPr>
        <p:txBody>
          <a:bodyPr wrap="square" lIns="0" tIns="0" rIns="0" bIns="0" rtlCol="0" anchor="b"/>
          <a:lstStyle/>
          <a:p>
            <a:pPr indent="0" marL="0">
              <a:buNone/>
            </a:pPr>
            <a:r>
              <a:rPr lang="en-US" sz="3000" b="1" dirty="0">
                <a:solidFill>
                  <a:schemeClr val="accent3"/>
                </a:solidFill>
                <a:latin typeface="Cambria" pitchFamily="34" charset="0"/>
                <a:ea typeface="Cambria" pitchFamily="34" charset="-122"/>
                <a:cs typeface="Cambria" pitchFamily="34" charset="-120"/>
              </a:rPr>
              <a:t>6 / 6</a:t>
            </a:r>
            <a:endParaRPr lang="en-US" sz="3000" dirty="0"/>
          </a:p>
        </p:txBody>
      </p:sp>
      <p:sp>
        <p:nvSpPr>
          <p:cNvPr id="8" name="rescue label"/>
          <p:cNvSpPr txBox="1"/>
          <p:nvPr/>
        </p:nvSpPr>
        <p:spPr>
          <a:xfrm>
            <a:off x="4892040" y="1810512"/>
            <a:ext cx="3611880" cy="427939"/>
          </a:xfrm>
          <a:prstGeom prst="rect">
            <a:avLst/>
          </a:prstGeom>
          <a:noFill/>
          <a:ln/>
        </p:spPr>
        <p:txBody>
          <a:bodyPr wrap="square" lIns="0" tIns="0" rIns="0" bIns="0" rtlCol="0" anchor="t"/>
          <a:lstStyle/>
          <a:p>
            <a:pPr indent="0" marL="0">
              <a:buNone/>
            </a:pPr>
            <a:r>
              <a:rPr lang="en-US" sz="1200" dirty="0">
                <a:solidFill>
                  <a:schemeClr val="tx1"/>
                </a:solidFill>
              </a:rPr>
              <a:t>usable NEB attempts with targeted numerical retries (was 3 / 6)</a:t>
            </a:r>
            <a:endParaRPr lang="en-US" sz="1200" dirty="0"/>
          </a:p>
        </p:txBody>
      </p:sp>
      <p:pic>
        <p:nvPicPr>
          <p:cNvPr id="9" name="NEB figure" descr="Usable NEB attempts before and after retries, and NEB energy profiles for acetyl chloride at oxide and nitride sites">    </p:cNvPr>
          <p:cNvPicPr>
            <a:picLocks noChangeAspect="1"/>
          </p:cNvPicPr>
          <p:nvPr/>
        </p:nvPicPr>
        <p:blipFill>
          <a:blip r:embed="rId1"/>
          <a:stretch>
            <a:fillRect/>
          </a:stretch>
        </p:blipFill>
        <p:spPr>
          <a:xfrm>
            <a:off x="822960" y="2423160"/>
            <a:ext cx="7498080" cy="2652176"/>
          </a:xfrm>
          <a:prstGeom prst="rect">
            <a:avLst/>
          </a:prstGeom>
        </p:spPr>
      </p:pic>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rPr>
              <a:t>Candidate screening</a:t>
            </a:r>
            <a:endParaRPr lang="en-US" sz="2600" dirty="0"/>
          </a:p>
        </p:txBody>
      </p:sp>
      <p:graphicFrame>
        <p:nvGraphicFramePr>
          <p:cNvPr id="9" name="candidate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468880"/>
                <a:gridCol w="2286000"/>
                <a:gridCol w="1737360"/>
                <a:gridCol w="1737360"/>
              </a:tblGrid>
              <a:tr h="384048">
                <a:tc>
                  <a:txBody>
                    <a:bodyPr/>
                    <a:lstStyle/>
                    <a:p>
                      <a:pPr indent="0" marL="0">
                        <a:buNone/>
                      </a:pPr>
                      <a:r>
                        <a:rPr lang="en-US" sz="1300" b="1" dirty="0">
                          <a:solidFill>
                            <a:srgbClr val="FFFFFF"/>
                          </a:solidFill>
                        </a:rPr>
                        <a:t>Candidate (from Valency)</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rPr>
                        <a:t>Agent's priority</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rPr>
                        <a:t>Margin, decades</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rPr>
                        <a:t>P(S ≥ 90 %)</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4213D"/>
                    </a:solidFill>
                  </a:tcPr>
                </a:tc>
              </a:tr>
              <a:tr h="384048">
                <a:tc>
                  <a:txBody>
                    <a:bodyPr/>
                    <a:lstStyle/>
                    <a:p>
                      <a:pPr indent="0" marL="0">
                        <a:buNone/>
                      </a:pPr>
                      <a:r>
                        <a:rPr lang="en-US" sz="1300" dirty="0">
                          <a:solidFill>
                            <a:srgbClr val="0B0B0B"/>
                          </a:solidFill>
                        </a:rPr>
                        <a:t>pivaldehyde</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value/cost 2.96</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[[pending]]</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[[pending]]</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B0B0B"/>
                          </a:solidFill>
                        </a:rPr>
                        <a:t>glutaraldehyde</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value/cost 2.96</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[[pending]]</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[[pending]]</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B0B0B"/>
                          </a:solidFill>
                        </a:rPr>
                        <a:t>propanoyl chloride</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value/cost 2.38</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[[pending]]</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[[pending]]</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B0B0B"/>
                          </a:solidFill>
                        </a:rPr>
                        <a:t>BDMADMS</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control (prefers SiO₂)</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[[pending]]</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[[pending]]</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B0B0B"/>
                          </a:solidFill>
                        </a:rPr>
                        <a:t>cyclic azasilane</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no barrier model yet</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[[pending]]</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[[pending]]</a:t>
                      </a:r>
                      <a:endParaRPr lang="en-US" sz="1300" dirty="0"/>
                    </a:p>
                  </a:txBody>
                  <a:tcPr marL="54864" marR="54864" marT="54864" marB="54864"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bl>
          </a:graphicData>
        </a:graphic>
      </p:graphicFrame>
      <p:sp>
        <p:nvSpPr>
          <p:cNvPr id="4" name="finding panel"/>
          <p:cNvSpPr/>
          <p:nvPr/>
        </p:nvSpPr>
        <p:spPr>
          <a:xfrm>
            <a:off x="457200" y="3611880"/>
            <a:ext cx="8229600" cy="960120"/>
          </a:xfrm>
          <a:prstGeom prst="roundRect">
            <a:avLst>
              <a:gd name="adj" fmla="val 7619"/>
            </a:avLst>
          </a:prstGeom>
          <a:solidFill>
            <a:schemeClr val="bg2"/>
          </a:solidFill>
          <a:ln w="12700">
            <a:solidFill>
              <a:schemeClr val="bg2"/>
            </a:solidFill>
            <a:prstDash val="solid"/>
          </a:ln>
        </p:spPr>
      </p:sp>
      <p:sp>
        <p:nvSpPr>
          <p:cNvPr id="5" name="finding"/>
          <p:cNvSpPr txBox="1"/>
          <p:nvPr/>
        </p:nvSpPr>
        <p:spPr>
          <a:xfrm>
            <a:off x="685800" y="3703320"/>
            <a:ext cx="7772400" cy="777240"/>
          </a:xfrm>
          <a:prstGeom prst="rect">
            <a:avLst/>
          </a:prstGeom>
          <a:noFill/>
          <a:ln/>
        </p:spPr>
        <p:txBody>
          <a:bodyPr wrap="square" lIns="0" tIns="0" rIns="0" bIns="0" rtlCol="0" anchor="ctr"/>
          <a:lstStyle/>
          <a:p>
            <a:pPr indent="0" marL="0">
              <a:buNone/>
            </a:pPr>
            <a:r>
              <a:rPr lang="en-US" sz="1500" b="1" dirty="0">
                <a:solidFill>
                  <a:schemeClr val="accent2"/>
                </a:solidFill>
              </a:rPr>
              <a:t>Finding: </a:t>
            </a:r>
            <a:pPr indent="0" marL="0">
              <a:buNone/>
            </a:pPr>
            <a:r>
              <a:rPr lang="en-US" sz="1500" dirty="0">
                <a:solidFill>
                  <a:schemeClr val="tx1"/>
                </a:solidFill>
              </a:rPr>
              <a:t>[[best candidate, its margin and predicted selectivity, or why no candidate passes yet]]</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A search you can audit, and improve</a:t>
            </a:r>
            <a:endParaRPr lang="en-US" sz="4000" dirty="0"/>
          </a:p>
        </p:txBody>
      </p:sp>
      <p:sp>
        <p:nvSpPr>
          <p:cNvPr id="3" name="Text 0"/>
          <p:cNvSpPr/>
          <p:nvPr>
            <p:ph idx="101" type="body" hasCustomPrompt="1"/>
          </p:nvPr>
        </p:nvSpPr>
        <p:spPr>
          <a:xfrm>
            <a:off x="548640" y="2468880"/>
            <a:ext cx="8046720" cy="2011680"/>
          </a:xfrm>
          <a:prstGeom prst="rect">
            <a:avLst/>
          </a:prstGeom>
          <a:noFill/>
          <a:ln/>
        </p:spPr>
        <p:txBody>
          <a:bodyPr wrap="square" lIns="0" tIns="0" rIns="0" bIns="0" rtlCol="0" anchor="t"/>
          <a:lstStyle/>
          <a:p>
            <a:pPr algn="l" marL="342900" indent="-342900">
              <a:buSzPct val="100000"/>
              <a:buChar char="•"/>
            </a:pPr>
            <a:r>
              <a:rPr lang="en-US" sz="1800" dirty="0">
                <a:solidFill>
                  <a:srgbClr val="CADCFC"/>
                </a:solidFill>
              </a:rPr>
              <a:t>Every verdict is computed, sourced and reproducible, including the reason a molecule fails</a:t>
            </a:r>
            <a:endParaRPr lang="en-US" sz="1800" dirty="0"/>
          </a:p>
          <a:p>
            <a:pPr algn="l" marL="342900" indent="-342900">
              <a:buSzPct val="100000"/>
              <a:buChar char="•"/>
            </a:pPr>
            <a:r>
              <a:rPr lang="en-US" sz="1800" dirty="0">
                <a:solidFill>
                  <a:srgbClr val="CADCFC"/>
                </a:solidFill>
              </a:rPr>
              <a:t>Next: slab-level barriers and DFT on the leaders, calibrated against measured growth curves</a:t>
            </a:r>
            <a:endParaRPr lang="en-US" sz="1800" dirty="0"/>
          </a:p>
          <a:p>
            <a:pPr algn="l" marL="342900" indent="-342900">
              <a:buSzPct val="100000"/>
              <a:buChar char="•"/>
            </a:pPr>
            <a:r>
              <a:rPr lang="en-US" sz="1800" dirty="0">
                <a:solidFill>
                  <a:srgbClr val="CADCFC"/>
                </a:solidFill>
              </a:rPr>
              <a:t>Automate the literature loop: similar and citing papers, reported barriers as priors</a:t>
            </a:r>
            <a:endParaRPr lang="en-US" sz="1800" dirty="0"/>
          </a:p>
          <a:p>
            <a:pPr algn="l" indent="0" marL="0">
              <a:buNone/>
            </a:pPr>
            <a:r>
              <a:rPr lang="en-US" sz="1800" dirty="0">
                <a:solidFill>
                  <a:srgbClr val="EDA100"/>
                </a:solidFill>
              </a:rPr>
              <a:t>github.com/dominicvarghese/donuman-ai-scientist</a:t>
            </a:r>
            <a:endParaRPr lang="en-US" sz="1800" dirty="0"/>
          </a:p>
        </p:txBody>
      </p:sp>
    </p:spTree>
  </p:cSld>
  <p:clrMapOvr>
    <a:masterClrMapping/>
  </p:clrMapOvr>
</p:sld>
</file>

<file path=ppt/theme/theme1.xml><?xml version="1.0" encoding="utf-8"?>
<a:theme xmlns:a="http://schemas.openxmlformats.org/drawingml/2006/main" name="WARDEN">
  <a:themeElements>
    <a:clrScheme name="WARDEN">
      <a:dk1>
        <a:srgbClr val="0B0B0B"/>
      </a:dk1>
      <a:lt1>
        <a:srgbClr val="FFFFFF"/>
      </a:lt1>
      <a:dk2>
        <a:srgbClr val="14213D"/>
      </a:dk2>
      <a:lt2>
        <a:srgbClr val="F3F5F8"/>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WARD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WARDEN: an AI co-scientist for area-selective ALD</dc:title>
  <dc:subject>PptxGenJS Presentation</dc:subject>
  <dc:creator>PptxGenJS</dc:creator>
  <cp:lastModifiedBy>PptxGenJS</cp:lastModifiedBy>
  <cp:revision>1</cp:revision>
  <dcterms:created xsi:type="dcterms:W3CDTF">2026-10-22T17:49:27Z</dcterms:created>
  <dcterms:modified xsi:type="dcterms:W3CDTF">2026-10-22T17:49:27Z</dcterms:modified>
</cp:coreProperties>
</file>